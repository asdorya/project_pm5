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notesMasterIdLst>
    <p:notesMasterId r:id="rId15"/>
  </p:notesMasterIdLst>
  <p:handoutMasterIdLst>
    <p:handoutMasterId r:id="rId16"/>
  </p:handoutMasterIdLst>
  <p:sldIdLst>
    <p:sldId id="692" r:id="rId2"/>
    <p:sldId id="693" r:id="rId3"/>
    <p:sldId id="728" r:id="rId4"/>
    <p:sldId id="709" r:id="rId5"/>
    <p:sldId id="729" r:id="rId6"/>
    <p:sldId id="730" r:id="rId7"/>
    <p:sldId id="731" r:id="rId8"/>
    <p:sldId id="732" r:id="rId9"/>
    <p:sldId id="733" r:id="rId10"/>
    <p:sldId id="734" r:id="rId11"/>
    <p:sldId id="713" r:id="rId12"/>
    <p:sldId id="714" r:id="rId13"/>
    <p:sldId id="715" r:id="rId14"/>
  </p:sldIdLst>
  <p:sldSz cx="10693400" cy="7561263"/>
  <p:notesSz cx="6669088" cy="9928225"/>
  <p:defaultTextStyle>
    <a:defPPr>
      <a:defRPr lang="ru-RU"/>
    </a:defPPr>
    <a:lvl1pPr marL="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orient="horz" pos="2531">
          <p15:clr>
            <a:srgbClr val="A4A3A4"/>
          </p15:clr>
        </p15:guide>
        <p15:guide id="4" pos="336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Катя" initials="К" lastIdx="1" clrIdx="0">
    <p:extLst>
      <p:ext uri="{19B8F6BF-5375-455C-9EA6-DF929625EA0E}">
        <p15:presenceInfo xmlns:p15="http://schemas.microsoft.com/office/powerpoint/2012/main" userId="Катя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60000"/>
    <a:srgbClr val="EB0000"/>
    <a:srgbClr val="EB1E00"/>
    <a:srgbClr val="E51F26"/>
    <a:srgbClr val="EB1E28"/>
    <a:srgbClr val="C81F36"/>
    <a:srgbClr val="3333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6408" autoAdjust="0"/>
  </p:normalViewPr>
  <p:slideViewPr>
    <p:cSldViewPr showGuides="1">
      <p:cViewPr varScale="1">
        <p:scale>
          <a:sx n="98" d="100"/>
          <a:sy n="98" d="100"/>
        </p:scale>
        <p:origin x="1452" y="108"/>
      </p:cViewPr>
      <p:guideLst>
        <p:guide orient="horz" pos="2296"/>
        <p:guide pos="2880"/>
        <p:guide orient="horz" pos="2531"/>
        <p:guide pos="336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45" d="100"/>
          <a:sy n="45" d="100"/>
        </p:scale>
        <p:origin x="278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>
            <a:extLst>
              <a:ext uri="{FF2B5EF4-FFF2-40B4-BE49-F238E27FC236}">
                <a16:creationId xmlns:a16="http://schemas.microsoft.com/office/drawing/2014/main" id="{671583C3-CA27-4496-BECA-C771D03A36A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07987283-449F-49A3-9FA6-20B92A61CE8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B3481F-6E72-4171-A9C8-98D56C39F96E}" type="datetimeFigureOut">
              <a:rPr lang="ru-RU" smtClean="0"/>
              <a:t>29.05.2026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5EB2E802-5847-4DA6-BAD8-A92EA4C57E2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07830C92-6658-426B-8F97-72EB78E0A89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778250" y="9429750"/>
            <a:ext cx="2889250" cy="4984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61C4CA1-B95C-48CD-AB14-2CAA4305D9D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2633884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13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4E9510-8D81-4F7D-A3DD-ECD88FF9FF52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66788" y="1241425"/>
            <a:ext cx="47355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66909" y="4777958"/>
            <a:ext cx="5335270" cy="390923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777607" y="9430091"/>
            <a:ext cx="2889938" cy="4981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CA9037-5C04-413C-AFF2-1B3777C3E584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75290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52152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04305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56458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086112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2607640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3129168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3650696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4172224" algn="l" defTabSz="1043056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E52F706F-AFAA-4FA6-90FD-A6042EEAC4E3}"/>
              </a:ext>
            </a:extLst>
          </p:cNvPr>
          <p:cNvSpPr/>
          <p:nvPr userDrawn="1"/>
        </p:nvSpPr>
        <p:spPr>
          <a:xfrm>
            <a:off x="0" y="1954612"/>
            <a:ext cx="10693400" cy="4058267"/>
          </a:xfrm>
          <a:prstGeom prst="rect">
            <a:avLst/>
          </a:prstGeom>
          <a:solidFill>
            <a:srgbClr val="2B314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>
            <a:extLst>
              <a:ext uri="{FF2B5EF4-FFF2-40B4-BE49-F238E27FC236}">
                <a16:creationId xmlns:a16="http://schemas.microsoft.com/office/drawing/2014/main" id="{C358D1E9-CE0B-40E2-B7B4-0FA4354CB526}"/>
              </a:ext>
            </a:extLst>
          </p:cNvPr>
          <p:cNvSpPr/>
          <p:nvPr userDrawn="1"/>
        </p:nvSpPr>
        <p:spPr>
          <a:xfrm>
            <a:off x="0" y="3755251"/>
            <a:ext cx="151490" cy="1332886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349F62CD-3B5C-4018-AC46-2285EBFB89E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6767" y="679218"/>
            <a:ext cx="3127375" cy="573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3D512A90-7C52-4CB6-A385-FCF56ED6BFCB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11B1396-9D3B-4AEC-A3F5-32D25265EAE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91784" y="3348583"/>
            <a:ext cx="9679452" cy="1915285"/>
          </a:xfrm>
        </p:spPr>
        <p:txBody>
          <a:bodyPr anchor="b">
            <a:normAutofit/>
          </a:bodyPr>
          <a:lstStyle>
            <a:lvl1pPr algn="ctr">
              <a:defRPr lang="ru-RU" sz="55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pPr marL="0" lvl="0" algn="l" defTabSz="1043056" rtl="0" eaLnBrk="1" latinLnBrk="0" hangingPunct="1">
              <a:defRPr/>
            </a:pPr>
            <a:r>
              <a:rPr lang="ru-RU" dirty="0"/>
              <a:t>ОБРАЗЕЦ ЗАГОЛОВКА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EDFA97E-57D3-4908-B503-1A4CD5FEDBA4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474666" y="5386216"/>
            <a:ext cx="9768578" cy="453716"/>
          </a:xfrm>
        </p:spPr>
        <p:txBody>
          <a:bodyPr anchor="b">
            <a:normAutofit/>
          </a:bodyPr>
          <a:lstStyle>
            <a:lvl1pPr marL="87313" indent="0">
              <a:buNone/>
              <a:defRPr sz="23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6005216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2" descr="D:\_DEN\_ПРОЕКТЫ\_МФПА\Университет СИНЕРГИЯ\презентации\Рисунок1.jpg">
            <a:extLst>
              <a:ext uri="{FF2B5EF4-FFF2-40B4-BE49-F238E27FC236}">
                <a16:creationId xmlns:a16="http://schemas.microsoft.com/office/drawing/2014/main" id="{04EA8244-8613-47EF-ADFF-CECBFAAFD32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725898" cy="7563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Picture 4">
            <a:extLst>
              <a:ext uri="{FF2B5EF4-FFF2-40B4-BE49-F238E27FC236}">
                <a16:creationId xmlns:a16="http://schemas.microsoft.com/office/drawing/2014/main" id="{2D85A3D9-8E6C-42BC-A646-80F2D6AECCC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977" y="1001906"/>
            <a:ext cx="2610490" cy="461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92507453-DF3E-4843-9C37-520D26E5A13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46766" y="2196455"/>
            <a:ext cx="9599868" cy="3807156"/>
          </a:xfrm>
        </p:spPr>
        <p:txBody>
          <a:bodyPr anchor="ctr">
            <a:normAutofit/>
          </a:bodyPr>
          <a:lstStyle>
            <a:lvl1pPr marL="0" algn="l" defTabSz="1043056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ru-RU" sz="5000" b="1" kern="1200" dirty="0">
                <a:solidFill>
                  <a:schemeClr val="bg1"/>
                </a:solidFill>
                <a:latin typeface="Arial Black" panose="020B0A04020102020204" pitchFamily="34" charset="0"/>
                <a:ea typeface="+mn-ea"/>
                <a:cs typeface="+mn-cs"/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04180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A3C1DD5A-7DBA-4220-B8D8-20048D0ABCE3}"/>
              </a:ext>
            </a:extLst>
          </p:cNvPr>
          <p:cNvSpPr/>
          <p:nvPr userDrawn="1"/>
        </p:nvSpPr>
        <p:spPr>
          <a:xfrm>
            <a:off x="0" y="1795828"/>
            <a:ext cx="10693400" cy="479311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919243"/>
            <a:ext cx="9824904" cy="3488816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4363236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FCBA8602-5369-476D-B67C-4D459E2AD00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3" y="2700511"/>
            <a:ext cx="9824904" cy="3707548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94963" y="2124447"/>
            <a:ext cx="9824904" cy="421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3701116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3" y="561291"/>
            <a:ext cx="9687193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5C6B6E1A-7427-4160-A1D6-036AF3FE48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962" y="2141571"/>
            <a:ext cx="9824905" cy="442469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</p:spTree>
    <p:extLst>
      <p:ext uri="{BB962C8B-B14F-4D97-AF65-F5344CB8AC3E}">
        <p14:creationId xmlns:p14="http://schemas.microsoft.com/office/powerpoint/2010/main" val="25283520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5" name="Объект 2">
            <a:extLst>
              <a:ext uri="{FF2B5EF4-FFF2-40B4-BE49-F238E27FC236}">
                <a16:creationId xmlns:a16="http://schemas.microsoft.com/office/drawing/2014/main" id="{73CB2135-A489-4E6B-8FED-92D74838E2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4212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17" name="Текст 2">
            <a:extLst>
              <a:ext uri="{FF2B5EF4-FFF2-40B4-BE49-F238E27FC236}">
                <a16:creationId xmlns:a16="http://schemas.microsoft.com/office/drawing/2014/main" id="{EA6920BC-95BA-4EE0-B6B9-ABDFC2E139F7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324212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4" name="Объект 2">
            <a:extLst>
              <a:ext uri="{FF2B5EF4-FFF2-40B4-BE49-F238E27FC236}">
                <a16:creationId xmlns:a16="http://schemas.microsoft.com/office/drawing/2014/main" id="{A4523AE8-D259-411C-A6A2-3CD2D16943E6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3741209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5" name="Текст 2">
            <a:extLst>
              <a:ext uri="{FF2B5EF4-FFF2-40B4-BE49-F238E27FC236}">
                <a16:creationId xmlns:a16="http://schemas.microsoft.com/office/drawing/2014/main" id="{2C6B67E9-E51A-4189-9E6F-B8FBB553E1FC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741209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6" name="Объект 2">
            <a:extLst>
              <a:ext uri="{FF2B5EF4-FFF2-40B4-BE49-F238E27FC236}">
                <a16:creationId xmlns:a16="http://schemas.microsoft.com/office/drawing/2014/main" id="{D9E4D091-F7FD-4BCB-B863-BE189268567B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7158207" y="3559861"/>
            <a:ext cx="3154337" cy="3006407"/>
          </a:xfrm>
        </p:spPr>
        <p:txBody>
          <a:bodyPr/>
          <a:lstStyle>
            <a:lvl1pPr marL="271463" indent="-271463">
              <a:defRPr/>
            </a:lvl1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37" name="Текст 2">
            <a:extLst>
              <a:ext uri="{FF2B5EF4-FFF2-40B4-BE49-F238E27FC236}">
                <a16:creationId xmlns:a16="http://schemas.microsoft.com/office/drawing/2014/main" id="{27AE658B-019B-4257-BC1E-5402C16CD9CF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7158207" y="2141571"/>
            <a:ext cx="3154337" cy="1276490"/>
          </a:xfrm>
        </p:spPr>
        <p:txBody>
          <a:bodyPr anchor="b">
            <a:normAutofit/>
          </a:bodyPr>
          <a:lstStyle>
            <a:lvl1pPr marL="87313" indent="0">
              <a:buNone/>
              <a:defRPr sz="1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8" name="Заголовок 1">
            <a:extLst>
              <a:ext uri="{FF2B5EF4-FFF2-40B4-BE49-F238E27FC236}">
                <a16:creationId xmlns:a16="http://schemas.microsoft.com/office/drawing/2014/main" id="{92BB8558-F0D2-4EE4-AD81-BEA8F86281C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2674" y="561291"/>
            <a:ext cx="9779870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452594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Прямоугольник 47">
            <a:extLst>
              <a:ext uri="{FF2B5EF4-FFF2-40B4-BE49-F238E27FC236}">
                <a16:creationId xmlns:a16="http://schemas.microsoft.com/office/drawing/2014/main" id="{EB9B11F2-6547-4B66-9341-F3EB5FC81BDB}"/>
              </a:ext>
            </a:extLst>
          </p:cNvPr>
          <p:cNvSpPr/>
          <p:nvPr userDrawn="1"/>
        </p:nvSpPr>
        <p:spPr>
          <a:xfrm>
            <a:off x="7759261" y="2470407"/>
            <a:ext cx="2359400" cy="40903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6" name="Номер слайда 3">
            <a:extLst>
              <a:ext uri="{FF2B5EF4-FFF2-40B4-BE49-F238E27FC236}">
                <a16:creationId xmlns:a16="http://schemas.microsoft.com/office/drawing/2014/main" id="{0A0A2E56-80E9-457C-85A2-379B7F01E3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95286" y="6950712"/>
            <a:ext cx="1935669" cy="402567"/>
          </a:xfrm>
          <a:prstGeom prst="rect">
            <a:avLst/>
          </a:prstGeom>
        </p:spPr>
        <p:txBody>
          <a:bodyPr/>
          <a:lstStyle/>
          <a:p>
            <a:pPr algn="l"/>
            <a:fld id="{725C68B6-61C2-468F-89AB-4B9F7531AA68}" type="slidenum">
              <a:rPr lang="ru-RU" smtClean="0"/>
              <a:pPr algn="l"/>
              <a:t>‹#›</a:t>
            </a:fld>
            <a:endParaRPr lang="ru-RU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5130363-D71A-4697-B9E0-FBA487FC8CD2}"/>
              </a:ext>
            </a:extLst>
          </p:cNvPr>
          <p:cNvSpPr/>
          <p:nvPr userDrawn="1"/>
        </p:nvSpPr>
        <p:spPr>
          <a:xfrm>
            <a:off x="0" y="218297"/>
            <a:ext cx="125720" cy="1255702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C2420F8-15A4-4618-82BB-55758199BB5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064950" y="6588943"/>
            <a:ext cx="1628450" cy="900750"/>
          </a:xfrm>
          <a:prstGeom prst="rect">
            <a:avLst/>
          </a:prstGeom>
        </p:spPr>
      </p:pic>
      <p:sp>
        <p:nvSpPr>
          <p:cNvPr id="18" name="object 3">
            <a:extLst>
              <a:ext uri="{FF2B5EF4-FFF2-40B4-BE49-F238E27FC236}">
                <a16:creationId xmlns:a16="http://schemas.microsoft.com/office/drawing/2014/main" id="{4C967A7A-8161-4185-84CA-97E80FC9B322}"/>
              </a:ext>
            </a:extLst>
          </p:cNvPr>
          <p:cNvSpPr/>
          <p:nvPr userDrawn="1"/>
        </p:nvSpPr>
        <p:spPr>
          <a:xfrm>
            <a:off x="7222" y="252239"/>
            <a:ext cx="125720" cy="1815708"/>
          </a:xfrm>
          <a:custGeom>
            <a:avLst/>
            <a:gdLst/>
            <a:ahLst/>
            <a:cxnLst/>
            <a:rect l="l" t="t" r="r" b="b"/>
            <a:pathLst>
              <a:path w="81280" h="1144905">
                <a:moveTo>
                  <a:pt x="0" y="1144803"/>
                </a:moveTo>
                <a:lnTo>
                  <a:pt x="81000" y="1144803"/>
                </a:lnTo>
                <a:lnTo>
                  <a:pt x="81000" y="0"/>
                </a:lnTo>
                <a:lnTo>
                  <a:pt x="0" y="0"/>
                </a:lnTo>
                <a:lnTo>
                  <a:pt x="0" y="1144803"/>
                </a:lnTo>
                <a:close/>
              </a:path>
            </a:pathLst>
          </a:custGeom>
          <a:solidFill>
            <a:srgbClr val="EE312C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Заголовок 1">
            <a:extLst>
              <a:ext uri="{FF2B5EF4-FFF2-40B4-BE49-F238E27FC236}">
                <a16:creationId xmlns:a16="http://schemas.microsoft.com/office/drawing/2014/main" id="{BDCE2DE8-E62B-4A34-8FC0-6B605B6B6D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62355" y="1133896"/>
            <a:ext cx="9499375" cy="567848"/>
          </a:xfrm>
        </p:spPr>
        <p:txBody>
          <a:bodyPr vert="horz" wrap="square" lIns="0" tIns="0" rIns="0" bIns="0" rtlCol="0">
            <a:spAutoFit/>
          </a:bodyPr>
          <a:lstStyle>
            <a:lvl1pPr>
              <a:defRPr lang="ru-RU" sz="4100" b="1">
                <a:solidFill>
                  <a:srgbClr val="E60000"/>
                </a:solidFill>
                <a:latin typeface="Arial Black" panose="020B0A04020102020204" pitchFamily="34" charset="0"/>
              </a:defRPr>
            </a:lvl1pPr>
          </a:lstStyle>
          <a:p>
            <a:pPr marL="0" lvl="0" defTabSz="914400"/>
            <a:r>
              <a:rPr lang="ru-RU" dirty="0"/>
              <a:t>ОБРАЗЕЦ ЗАГОЛОВКА</a:t>
            </a:r>
          </a:p>
        </p:txBody>
      </p:sp>
      <p:sp>
        <p:nvSpPr>
          <p:cNvPr id="31" name="Текст 2">
            <a:extLst>
              <a:ext uri="{FF2B5EF4-FFF2-40B4-BE49-F238E27FC236}">
                <a16:creationId xmlns:a16="http://schemas.microsoft.com/office/drawing/2014/main" id="{2B0BFA9E-BDB0-415B-8B27-5B6AB1518DB8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562355" y="489910"/>
            <a:ext cx="9499375" cy="276999"/>
          </a:xfrm>
        </p:spPr>
        <p:txBody>
          <a:bodyPr vert="horz" wrap="square" lIns="0" tIns="0" rIns="0" bIns="0" rtlCol="0" anchor="ctr">
            <a:spAutoFit/>
          </a:bodyPr>
          <a:lstStyle>
            <a:lvl1pPr>
              <a:defRPr lang="ru-RU" sz="2000" b="1" dirty="0">
                <a:solidFill>
                  <a:srgbClr val="E60000"/>
                </a:solidFill>
                <a:latin typeface="Arial Black" panose="020B0A04020102020204" pitchFamily="34" charset="0"/>
                <a:ea typeface="+mj-ea"/>
                <a:cs typeface="+mj-cs"/>
              </a:defRPr>
            </a:lvl1pPr>
          </a:lstStyle>
          <a:p>
            <a:pPr marL="0" lvl="0" defTabSz="914400">
              <a:spcBef>
                <a:spcPct val="0"/>
              </a:spcBef>
              <a:buNone/>
            </a:pPr>
            <a:r>
              <a:rPr lang="ru-RU" dirty="0"/>
              <a:t>ОБРАЗЕЦ ТЕКСТА</a:t>
            </a:r>
          </a:p>
        </p:txBody>
      </p:sp>
      <p:sp>
        <p:nvSpPr>
          <p:cNvPr id="42" name="Объект 2">
            <a:extLst>
              <a:ext uri="{FF2B5EF4-FFF2-40B4-BE49-F238E27FC236}">
                <a16:creationId xmlns:a16="http://schemas.microsoft.com/office/drawing/2014/main" id="{DDA1D208-AC82-41CD-AC19-AA520B2C26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5691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3" name="Объект 2">
            <a:extLst>
              <a:ext uri="{FF2B5EF4-FFF2-40B4-BE49-F238E27FC236}">
                <a16:creationId xmlns:a16="http://schemas.microsoft.com/office/drawing/2014/main" id="{2CB3BD24-831A-4664-875C-E9C7FB7F8C36}"/>
              </a:ext>
            </a:extLst>
          </p:cNvPr>
          <p:cNvSpPr>
            <a:spLocks noGrp="1"/>
          </p:cNvSpPr>
          <p:nvPr>
            <p:ph idx="21"/>
          </p:nvPr>
        </p:nvSpPr>
        <p:spPr>
          <a:xfrm>
            <a:off x="3017334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4" name="Объект 2">
            <a:extLst>
              <a:ext uri="{FF2B5EF4-FFF2-40B4-BE49-F238E27FC236}">
                <a16:creationId xmlns:a16="http://schemas.microsoft.com/office/drawing/2014/main" id="{F8D3A8DA-DE38-47DD-9DD4-6DEB7240F645}"/>
              </a:ext>
            </a:extLst>
          </p:cNvPr>
          <p:cNvSpPr>
            <a:spLocks noGrp="1"/>
          </p:cNvSpPr>
          <p:nvPr>
            <p:ph idx="22"/>
          </p:nvPr>
        </p:nvSpPr>
        <p:spPr>
          <a:xfrm>
            <a:off x="5388977" y="5058739"/>
            <a:ext cx="2304000" cy="1502061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45" name="Прямоугольник 44">
            <a:extLst>
              <a:ext uri="{FF2B5EF4-FFF2-40B4-BE49-F238E27FC236}">
                <a16:creationId xmlns:a16="http://schemas.microsoft.com/office/drawing/2014/main" id="{EE8C385B-C208-4106-8613-8BC5223A3F5C}"/>
              </a:ext>
            </a:extLst>
          </p:cNvPr>
          <p:cNvSpPr/>
          <p:nvPr userDrawn="1"/>
        </p:nvSpPr>
        <p:spPr>
          <a:xfrm>
            <a:off x="648087" y="4846672"/>
            <a:ext cx="7043531" cy="51669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4306" tIns="52153" rIns="104306" bIns="52153" rtlCol="0" anchor="ctr"/>
          <a:lstStyle/>
          <a:p>
            <a:pPr algn="ctr"/>
            <a:endParaRPr lang="ru-RU"/>
          </a:p>
        </p:txBody>
      </p:sp>
      <p:sp>
        <p:nvSpPr>
          <p:cNvPr id="52" name="Текст 2">
            <a:extLst>
              <a:ext uri="{FF2B5EF4-FFF2-40B4-BE49-F238E27FC236}">
                <a16:creationId xmlns:a16="http://schemas.microsoft.com/office/drawing/2014/main" id="{7CEAFFC1-C332-47C7-9CFE-8FE0B3FD0457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7757731" y="2484487"/>
            <a:ext cx="2304000" cy="292598"/>
          </a:xfrm>
        </p:spPr>
        <p:txBody>
          <a:bodyPr anchor="b">
            <a:normAutofit/>
          </a:bodyPr>
          <a:lstStyle>
            <a:lvl1pPr marL="0" indent="0" algn="l">
              <a:buNone/>
              <a:defRPr sz="14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4" name="Объект 2">
            <a:extLst>
              <a:ext uri="{FF2B5EF4-FFF2-40B4-BE49-F238E27FC236}">
                <a16:creationId xmlns:a16="http://schemas.microsoft.com/office/drawing/2014/main" id="{BDB58731-0025-45AA-B7E6-AE93EE2F2764}"/>
              </a:ext>
            </a:extLst>
          </p:cNvPr>
          <p:cNvSpPr>
            <a:spLocks noGrp="1"/>
          </p:cNvSpPr>
          <p:nvPr>
            <p:ph idx="24"/>
          </p:nvPr>
        </p:nvSpPr>
        <p:spPr>
          <a:xfrm>
            <a:off x="7759260" y="2945191"/>
            <a:ext cx="2311011" cy="3462867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8" name="Объект 2">
            <a:extLst>
              <a:ext uri="{FF2B5EF4-FFF2-40B4-BE49-F238E27FC236}">
                <a16:creationId xmlns:a16="http://schemas.microsoft.com/office/drawing/2014/main" id="{E9331FB5-268A-4AC3-A50C-029CFF37D9C2}"/>
              </a:ext>
            </a:extLst>
          </p:cNvPr>
          <p:cNvSpPr>
            <a:spLocks noGrp="1"/>
          </p:cNvSpPr>
          <p:nvPr>
            <p:ph idx="25"/>
          </p:nvPr>
        </p:nvSpPr>
        <p:spPr>
          <a:xfrm>
            <a:off x="665571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59" name="Объект 2">
            <a:extLst>
              <a:ext uri="{FF2B5EF4-FFF2-40B4-BE49-F238E27FC236}">
                <a16:creationId xmlns:a16="http://schemas.microsoft.com/office/drawing/2014/main" id="{073B8669-4C3C-4E00-85DA-6D255EE3B472}"/>
              </a:ext>
            </a:extLst>
          </p:cNvPr>
          <p:cNvSpPr>
            <a:spLocks noGrp="1"/>
          </p:cNvSpPr>
          <p:nvPr>
            <p:ph idx="26"/>
          </p:nvPr>
        </p:nvSpPr>
        <p:spPr>
          <a:xfrm>
            <a:off x="3037214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0" name="Объект 2">
            <a:extLst>
              <a:ext uri="{FF2B5EF4-FFF2-40B4-BE49-F238E27FC236}">
                <a16:creationId xmlns:a16="http://schemas.microsoft.com/office/drawing/2014/main" id="{6D28D3A1-3506-42DA-8E0C-5D900B154BFB}"/>
              </a:ext>
            </a:extLst>
          </p:cNvPr>
          <p:cNvSpPr>
            <a:spLocks noGrp="1"/>
          </p:cNvSpPr>
          <p:nvPr>
            <p:ph idx="27"/>
          </p:nvPr>
        </p:nvSpPr>
        <p:spPr>
          <a:xfrm>
            <a:off x="5408857" y="2470407"/>
            <a:ext cx="2304000" cy="2376265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600"/>
            </a:lvl1pPr>
            <a:lvl2pPr marL="391146" indent="0">
              <a:buFontTx/>
              <a:buNone/>
              <a:defRPr sz="1600"/>
            </a:lvl2pPr>
            <a:lvl3pPr marL="782292" indent="0">
              <a:buFontTx/>
              <a:buNone/>
              <a:defRPr sz="1600"/>
            </a:lvl3pPr>
            <a:lvl4pPr marL="1173438" indent="0">
              <a:buFontTx/>
              <a:buNone/>
              <a:defRPr sz="1600"/>
            </a:lvl4pPr>
            <a:lvl5pPr marL="1564584" indent="0">
              <a:buFontTx/>
              <a:buNone/>
              <a:defRPr sz="1600"/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</p:spTree>
    <p:extLst>
      <p:ext uri="{BB962C8B-B14F-4D97-AF65-F5344CB8AC3E}">
        <p14:creationId xmlns:p14="http://schemas.microsoft.com/office/powerpoint/2010/main" val="6214390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36675" y="1237457"/>
            <a:ext cx="8020050" cy="2632440"/>
          </a:xfrm>
        </p:spPr>
        <p:txBody>
          <a:bodyPr anchor="b"/>
          <a:lstStyle>
            <a:lvl1pPr algn="ctr"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36675" y="3971414"/>
            <a:ext cx="8020050" cy="1825554"/>
          </a:xfrm>
        </p:spPr>
        <p:txBody>
          <a:bodyPr/>
          <a:lstStyle>
            <a:lvl1pPr marL="0" indent="0" algn="ctr">
              <a:buNone/>
              <a:defRPr sz="2100"/>
            </a:lvl1pPr>
            <a:lvl2pPr marL="391146" indent="0" algn="ctr">
              <a:buNone/>
              <a:defRPr sz="1700"/>
            </a:lvl2pPr>
            <a:lvl3pPr marL="782292" indent="0" algn="ctr">
              <a:buNone/>
              <a:defRPr sz="1500"/>
            </a:lvl3pPr>
            <a:lvl4pPr marL="1173438" indent="0" algn="ctr">
              <a:buNone/>
              <a:defRPr sz="1400"/>
            </a:lvl4pPr>
            <a:lvl5pPr marL="1564584" indent="0" algn="ctr">
              <a:buNone/>
              <a:defRPr sz="1400"/>
            </a:lvl5pPr>
            <a:lvl6pPr marL="1955730" indent="0" algn="ctr">
              <a:buNone/>
              <a:defRPr sz="1400"/>
            </a:lvl6pPr>
            <a:lvl7pPr marL="2346876" indent="0" algn="ctr">
              <a:buNone/>
              <a:defRPr sz="1400"/>
            </a:lvl7pPr>
            <a:lvl8pPr marL="2738022" indent="0" algn="ctr">
              <a:buNone/>
              <a:defRPr sz="1400"/>
            </a:lvl8pPr>
            <a:lvl9pPr marL="3129168" indent="0" algn="ctr">
              <a:buNone/>
              <a:defRPr sz="14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48121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2051" name="Picture 3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5265" y="280935"/>
            <a:ext cx="1512396" cy="2771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9574515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9602" y="1885067"/>
            <a:ext cx="9223058" cy="3145275"/>
          </a:xfrm>
        </p:spPr>
        <p:txBody>
          <a:bodyPr anchor="b"/>
          <a:lstStyle>
            <a:lvl1pPr>
              <a:defRPr sz="51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9602" y="5060097"/>
            <a:ext cx="9223058" cy="1654026"/>
          </a:xfrm>
        </p:spPr>
        <p:txBody>
          <a:bodyPr/>
          <a:lstStyle>
            <a:lvl1pPr marL="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1pPr>
            <a:lvl2pPr marL="391146" indent="0">
              <a:buNone/>
              <a:defRPr sz="1700">
                <a:solidFill>
                  <a:schemeClr val="tx1">
                    <a:tint val="75000"/>
                  </a:schemeClr>
                </a:solidFill>
              </a:defRPr>
            </a:lvl2pPr>
            <a:lvl3pPr marL="7822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3pPr>
            <a:lvl4pPr marL="117343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56458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195573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34687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273802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129168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97061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735171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5413534" y="2012836"/>
            <a:ext cx="4544695" cy="479755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138500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402569"/>
            <a:ext cx="9223058" cy="1461495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6565" y="1853560"/>
            <a:ext cx="4523809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736565" y="2761961"/>
            <a:ext cx="4523809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5413534" y="1853560"/>
            <a:ext cx="4546088" cy="908401"/>
          </a:xfrm>
        </p:spPr>
        <p:txBody>
          <a:bodyPr anchor="b"/>
          <a:lstStyle>
            <a:lvl1pPr marL="0" indent="0">
              <a:buNone/>
              <a:defRPr sz="2100" b="1"/>
            </a:lvl1pPr>
            <a:lvl2pPr marL="391146" indent="0">
              <a:buNone/>
              <a:defRPr sz="1700" b="1"/>
            </a:lvl2pPr>
            <a:lvl3pPr marL="782292" indent="0">
              <a:buNone/>
              <a:defRPr sz="1500" b="1"/>
            </a:lvl3pPr>
            <a:lvl4pPr marL="1173438" indent="0">
              <a:buNone/>
              <a:defRPr sz="1400" b="1"/>
            </a:lvl4pPr>
            <a:lvl5pPr marL="1564584" indent="0">
              <a:buNone/>
              <a:defRPr sz="1400" b="1"/>
            </a:lvl5pPr>
            <a:lvl6pPr marL="1955730" indent="0">
              <a:buNone/>
              <a:defRPr sz="1400" b="1"/>
            </a:lvl6pPr>
            <a:lvl7pPr marL="2346876" indent="0">
              <a:buNone/>
              <a:defRPr sz="1400" b="1"/>
            </a:lvl7pPr>
            <a:lvl8pPr marL="2738022" indent="0">
              <a:buNone/>
              <a:defRPr sz="1400" b="1"/>
            </a:lvl8pPr>
            <a:lvl9pPr marL="3129168" indent="0">
              <a:buNone/>
              <a:defRPr sz="14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5413534" y="2761961"/>
            <a:ext cx="4546088" cy="406242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73644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52048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>
              <a:defRPr sz="2700"/>
            </a:lvl1pPr>
            <a:lvl2pPr>
              <a:defRPr sz="2400"/>
            </a:lvl2pPr>
            <a:lvl3pPr>
              <a:defRPr sz="2100"/>
            </a:lvl3pPr>
            <a:lvl4pPr>
              <a:defRPr sz="1700"/>
            </a:lvl4pPr>
            <a:lvl5pPr>
              <a:defRPr sz="1700"/>
            </a:lvl5pPr>
            <a:lvl6pPr>
              <a:defRPr sz="1700"/>
            </a:lvl6pPr>
            <a:lvl7pPr>
              <a:defRPr sz="1700"/>
            </a:lvl7pPr>
            <a:lvl8pPr>
              <a:defRPr sz="1700"/>
            </a:lvl8pPr>
            <a:lvl9pPr>
              <a:defRPr sz="17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614102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6564" y="504084"/>
            <a:ext cx="3448900" cy="1764295"/>
          </a:xfrm>
        </p:spPr>
        <p:txBody>
          <a:bodyPr anchor="b"/>
          <a:lstStyle>
            <a:lvl1pPr>
              <a:defRPr sz="27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4546088" y="1088683"/>
            <a:ext cx="5413534" cy="5373398"/>
          </a:xfrm>
        </p:spPr>
        <p:txBody>
          <a:bodyPr/>
          <a:lstStyle>
            <a:lvl1pPr marL="0" indent="0">
              <a:buNone/>
              <a:defRPr sz="2700"/>
            </a:lvl1pPr>
            <a:lvl2pPr marL="391146" indent="0">
              <a:buNone/>
              <a:defRPr sz="2400"/>
            </a:lvl2pPr>
            <a:lvl3pPr marL="782292" indent="0">
              <a:buNone/>
              <a:defRPr sz="2100"/>
            </a:lvl3pPr>
            <a:lvl4pPr marL="1173438" indent="0">
              <a:buNone/>
              <a:defRPr sz="1700"/>
            </a:lvl4pPr>
            <a:lvl5pPr marL="1564584" indent="0">
              <a:buNone/>
              <a:defRPr sz="1700"/>
            </a:lvl5pPr>
            <a:lvl6pPr marL="1955730" indent="0">
              <a:buNone/>
              <a:defRPr sz="1700"/>
            </a:lvl6pPr>
            <a:lvl7pPr marL="2346876" indent="0">
              <a:buNone/>
              <a:defRPr sz="1700"/>
            </a:lvl7pPr>
            <a:lvl8pPr marL="2738022" indent="0">
              <a:buNone/>
              <a:defRPr sz="1700"/>
            </a:lvl8pPr>
            <a:lvl9pPr marL="3129168" indent="0">
              <a:buNone/>
              <a:defRPr sz="17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736564" y="2268379"/>
            <a:ext cx="3448900" cy="4202453"/>
          </a:xfrm>
        </p:spPr>
        <p:txBody>
          <a:bodyPr/>
          <a:lstStyle>
            <a:lvl1pPr marL="0" indent="0">
              <a:buNone/>
              <a:defRPr sz="1400"/>
            </a:lvl1pPr>
            <a:lvl2pPr marL="391146" indent="0">
              <a:buNone/>
              <a:defRPr sz="1200"/>
            </a:lvl2pPr>
            <a:lvl3pPr marL="782292" indent="0">
              <a:buNone/>
              <a:defRPr sz="1000"/>
            </a:lvl3pPr>
            <a:lvl4pPr marL="1173438" indent="0">
              <a:buNone/>
              <a:defRPr sz="900"/>
            </a:lvl4pPr>
            <a:lvl5pPr marL="1564584" indent="0">
              <a:buNone/>
              <a:defRPr sz="900"/>
            </a:lvl5pPr>
            <a:lvl6pPr marL="1955730" indent="0">
              <a:buNone/>
              <a:defRPr sz="900"/>
            </a:lvl6pPr>
            <a:lvl7pPr marL="2346876" indent="0">
              <a:buNone/>
              <a:defRPr sz="900"/>
            </a:lvl7pPr>
            <a:lvl8pPr marL="2738022" indent="0">
              <a:buNone/>
              <a:defRPr sz="900"/>
            </a:lvl8pPr>
            <a:lvl9pPr marL="3129168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861765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74550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7652465" y="402567"/>
            <a:ext cx="2305764" cy="64078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735172" y="402567"/>
            <a:ext cx="6783626" cy="6407821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693126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35171" y="402569"/>
            <a:ext cx="9223058" cy="1461495"/>
          </a:xfrm>
          <a:prstGeom prst="rect">
            <a:avLst/>
          </a:prstGeom>
        </p:spPr>
        <p:txBody>
          <a:bodyPr vert="horz" lIns="104306" tIns="52153" rIns="104306" bIns="52153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35171" y="2012836"/>
            <a:ext cx="9223058" cy="4797552"/>
          </a:xfrm>
          <a:prstGeom prst="rect">
            <a:avLst/>
          </a:prstGeom>
        </p:spPr>
        <p:txBody>
          <a:bodyPr vert="horz" lIns="104306" tIns="52153" rIns="104306" bIns="52153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735171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9B0CA2-EE7C-4F21-BC99-1B7BC45BB5BA}" type="datetimeFigureOut">
              <a:rPr lang="ru-RU" smtClean="0"/>
              <a:pPr/>
              <a:t>29.05.2026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542189" y="7008172"/>
            <a:ext cx="3609023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7552214" y="7008172"/>
            <a:ext cx="2406015" cy="402567"/>
          </a:xfrm>
          <a:prstGeom prst="rect">
            <a:avLst/>
          </a:prstGeom>
        </p:spPr>
        <p:txBody>
          <a:bodyPr vert="horz" lIns="104306" tIns="52153" rIns="104306" bIns="52153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AB95CB-C0AE-4384-84F4-5E78CCE15AAB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8932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5" r:id="rId2"/>
    <p:sldLayoutId id="2147483719" r:id="rId3"/>
    <p:sldLayoutId id="2147483739" r:id="rId4"/>
    <p:sldLayoutId id="2147483736" r:id="rId5"/>
    <p:sldLayoutId id="2147483738" r:id="rId6"/>
    <p:sldLayoutId id="2147483737" r:id="rId7"/>
    <p:sldLayoutId id="2147483713" r:id="rId8"/>
    <p:sldLayoutId id="2147483714" r:id="rId9"/>
    <p:sldLayoutId id="2147483715" r:id="rId10"/>
    <p:sldLayoutId id="2147483716" r:id="rId11"/>
    <p:sldLayoutId id="2147483717" r:id="rId12"/>
    <p:sldLayoutId id="2147483718" r:id="rId13"/>
    <p:sldLayoutId id="2147483720" r:id="rId14"/>
    <p:sldLayoutId id="2147483721" r:id="rId15"/>
    <p:sldLayoutId id="2147483722" r:id="rId16"/>
    <p:sldLayoutId id="2147483723" r:id="rId17"/>
  </p:sldLayoutIdLst>
  <p:txStyles>
    <p:titleStyle>
      <a:lvl1pPr algn="l" defTabSz="782292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5573" indent="-195573" algn="l" defTabSz="782292" rtl="0" eaLnBrk="1" latinLnBrk="0" hangingPunct="1">
        <a:lnSpc>
          <a:spcPct val="90000"/>
        </a:lnSpc>
        <a:spcBef>
          <a:spcPts val="856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8671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7786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6901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60157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151303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542449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933595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324741" indent="-195573" algn="l" defTabSz="782292" rtl="0" eaLnBrk="1" latinLnBrk="0" hangingPunct="1">
        <a:lnSpc>
          <a:spcPct val="90000"/>
        </a:lnSpc>
        <a:spcBef>
          <a:spcPts val="428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1pPr>
      <a:lvl2pPr marL="39114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78229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17343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64584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955730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346876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38022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129168" algn="l" defTabSz="782292" rtl="0" eaLnBrk="1" latinLnBrk="0" hangingPunct="1"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AEBF47-2662-48D1-B238-FBEE452D28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26967" y="6009971"/>
            <a:ext cx="9679452" cy="1915285"/>
          </a:xfrm>
        </p:spPr>
        <p:txBody>
          <a:bodyPr>
            <a:normAutofit fontScale="90000"/>
          </a:bodyPr>
          <a:lstStyle/>
          <a:p>
            <a:r>
              <a:rPr lang="ru-RU" sz="2100" dirty="0"/>
              <a:t>ОТЧЕТ </a:t>
            </a:r>
            <a:br>
              <a:rPr lang="ru-RU" sz="2100" dirty="0"/>
            </a:br>
            <a:r>
              <a:rPr lang="ru-RU" sz="2100" dirty="0"/>
              <a:t>о прохождении учебной практики </a:t>
            </a:r>
            <a:br>
              <a:rPr lang="ru-RU" sz="2100" dirty="0"/>
            </a:br>
            <a:r>
              <a:rPr lang="ru-RU" sz="2100" dirty="0"/>
              <a:t>по профессиональному модулю ПМ.05 Проектирование и разработка информационных систем</a:t>
            </a:r>
            <a:br>
              <a:rPr lang="ru-RU" sz="2100" dirty="0"/>
            </a:br>
            <a:br>
              <a:rPr lang="ru-RU" sz="2100" dirty="0"/>
            </a:br>
            <a:r>
              <a:rPr lang="ru-RU" sz="2100" dirty="0"/>
              <a:t>в период с «18» мая 2026 г. по «31» мая 2026 г.</a:t>
            </a:r>
            <a:br>
              <a:rPr lang="ru-RU" sz="2100" dirty="0"/>
            </a:br>
            <a:br>
              <a:rPr lang="ru-RU" sz="2100" dirty="0"/>
            </a:br>
            <a:r>
              <a:rPr lang="ru-RU" sz="2100" dirty="0"/>
              <a:t> Специальность 09.02.07 Информационные системы и программирование</a:t>
            </a:r>
            <a:br>
              <a:rPr lang="ru-RU" sz="2100" dirty="0"/>
            </a:br>
            <a:br>
              <a:rPr lang="ru-RU" sz="2100" dirty="0"/>
            </a:br>
            <a:br>
              <a:rPr lang="ru-RU" sz="2100" dirty="0"/>
            </a:br>
            <a:br>
              <a:rPr lang="en-US" sz="2100" dirty="0"/>
            </a:br>
            <a:br>
              <a:rPr lang="ru-RU" sz="2100" dirty="0"/>
            </a:br>
            <a:br>
              <a:rPr lang="en-US" sz="2200" dirty="0"/>
            </a:br>
            <a:br>
              <a:rPr lang="ru-RU" sz="2200" dirty="0"/>
            </a:br>
            <a:br>
              <a:rPr lang="ru-RU" sz="2700" dirty="0"/>
            </a:br>
            <a:br>
              <a:rPr lang="ru-RU" sz="2100" dirty="0"/>
            </a:br>
            <a:endParaRPr lang="ru-RU" sz="2700" dirty="0"/>
          </a:p>
        </p:txBody>
      </p:sp>
      <p:sp>
        <p:nvSpPr>
          <p:cNvPr id="6" name="Подзаголовок 2">
            <a:extLst>
              <a:ext uri="{FF2B5EF4-FFF2-40B4-BE49-F238E27FC236}">
                <a16:creationId xmlns:a16="http://schemas.microsoft.com/office/drawing/2014/main" id="{8EC7E33D-1387-4B56-A695-F4C72A50F4EE}"/>
              </a:ext>
            </a:extLst>
          </p:cNvPr>
          <p:cNvSpPr txBox="1">
            <a:spLocks/>
          </p:cNvSpPr>
          <p:nvPr/>
        </p:nvSpPr>
        <p:spPr bwMode="auto">
          <a:xfrm>
            <a:off x="426967" y="5980906"/>
            <a:ext cx="8712968" cy="1368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0" fontAlgn="base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10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ФИО обучающегося</a:t>
            </a: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: 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____Никешина Дарья Ивановна_________</a:t>
            </a:r>
          </a:p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Группа: ____ДКИП-381___________________________________</a:t>
            </a:r>
          </a:p>
          <a:p>
            <a:pPr lvl="0" algn="l" defTabSz="914400" eaLnBrk="1" hangingPunct="1">
              <a:lnSpc>
                <a:spcPct val="80000"/>
              </a:lnSpc>
              <a:spcBef>
                <a:spcPct val="0"/>
              </a:spcBef>
              <a:defRPr/>
            </a:pPr>
            <a:r>
              <a:rPr kumimoji="0" lang="ru-RU" altLang="ru-RU" sz="2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+mn-ea"/>
                <a:cs typeface="+mn-cs"/>
              </a:rPr>
              <a:t>ФИО Руководителя:  </a:t>
            </a:r>
            <a:r>
              <a:rPr lang="ru-RU" altLang="ru-RU" sz="2000" dirty="0">
                <a:solidFill>
                  <a:srgbClr val="FF0000"/>
                </a:solidFill>
              </a:rPr>
              <a:t>____</a:t>
            </a:r>
            <a:r>
              <a:rPr lang="ru-RU" altLang="ru-RU" sz="2400" dirty="0">
                <a:solidFill>
                  <a:srgbClr val="FF0000"/>
                </a:solidFill>
                <a:latin typeface="Calibri"/>
              </a:rPr>
              <a:t>Алёхина Гелена Васильевна</a:t>
            </a:r>
            <a:r>
              <a:rPr lang="ru-RU" altLang="ru-RU" sz="2000" dirty="0">
                <a:solidFill>
                  <a:srgbClr val="FF0000"/>
                </a:solidFill>
              </a:rPr>
              <a:t>____________</a:t>
            </a: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22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100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en-US" altLang="ru-RU" sz="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/>
            </a:pPr>
            <a:endParaRPr kumimoji="0" lang="ru-RU" altLang="ru-RU" sz="800" b="0" i="1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7A02C01-F3A7-4DE2-9DF2-AD08FA4829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516" y="1980431"/>
            <a:ext cx="9144000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АВТОНОМНАЯ НЕКОММЕРЧЕСКАЯ ОРГАНИЗАЦИЯ ВЫСШЕГО ОБРАЗОВАНИЯ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«МОСКОВСКИЙ УНИВЕРСИТЕТ «СИНЕРГИЯ»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Факультет Информационных технологий </a:t>
            </a:r>
          </a:p>
          <a:p>
            <a:pPr algn="ctr" defTabSz="914400" fontAlgn="base">
              <a:spcBef>
                <a:spcPct val="0"/>
              </a:spcBef>
              <a:spcAft>
                <a:spcPct val="0"/>
              </a:spcAft>
            </a:pPr>
            <a:r>
              <a:rPr lang="ru-RU" altLang="ru-RU" sz="1400" b="1" dirty="0">
                <a:solidFill>
                  <a:prstClr val="white"/>
                </a:solidFill>
                <a:latin typeface="Arial" charset="0"/>
              </a:rPr>
              <a:t>Кафедра Цифровой экономики</a:t>
            </a:r>
          </a:p>
        </p:txBody>
      </p:sp>
    </p:spTree>
    <p:extLst>
      <p:ext uri="{BB962C8B-B14F-4D97-AF65-F5344CB8AC3E}">
        <p14:creationId xmlns:p14="http://schemas.microsoft.com/office/powerpoint/2010/main" val="97912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Содержание</a:t>
            </a: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E8873C1B-B4A6-7F23-BED6-45A590712FFA}"/>
              </a:ext>
            </a:extLst>
          </p:cNvPr>
          <p:cNvSpPr txBox="1"/>
          <p:nvPr/>
        </p:nvSpPr>
        <p:spPr>
          <a:xfrm>
            <a:off x="532672" y="1764407"/>
            <a:ext cx="9687193" cy="42575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ru-RU"/>
            </a:defPPr>
            <a:lvl1pPr marL="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2152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4305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56458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86112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607640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129168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650696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4172224" algn="l" defTabSz="1043056" rtl="0" eaLnBrk="1" latinLnBrk="0" hangingPunct="1"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Инструктаж по соблюдению правил противопожарной безопасности, правил охраны труда, техники безопасности, санитарно-эпидемиологических правил и гигиенических нормативов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Изучение организационной структуры исследуемого предприятия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Сбор информации об объекте практики и анализ содержания источников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Экспериментально-практическая работа. Приобретение необходимых умений и практического опыта работы по специальности в рамках освоения вида деятельности ВД.05. Проектирование и разработка информационных систем</a:t>
            </a:r>
          </a:p>
          <a:p>
            <a:pPr algn="just">
              <a:spcBef>
                <a:spcPts val="400"/>
              </a:spcBef>
              <a:spcAft>
                <a:spcPts val="400"/>
              </a:spcAft>
            </a:pPr>
            <a:r>
              <a:rPr lang="ru-RU" sz="25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</a:t>
            </a:r>
            <a:r>
              <a:rPr lang="ru-RU" sz="22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Обработка и систематизация полученного фактического материала</a:t>
            </a:r>
          </a:p>
        </p:txBody>
      </p:sp>
    </p:spTree>
    <p:extLst>
      <p:ext uri="{BB962C8B-B14F-4D97-AF65-F5344CB8AC3E}">
        <p14:creationId xmlns:p14="http://schemas.microsoft.com/office/powerpoint/2010/main" val="33955581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4024" y="342509"/>
            <a:ext cx="9687193" cy="415498"/>
          </a:xfrm>
        </p:spPr>
        <p:txBody>
          <a:bodyPr/>
          <a:lstStyle/>
          <a:p>
            <a:r>
              <a:rPr lang="ru-RU" sz="3000" dirty="0"/>
              <a:t>Организационный этап</a:t>
            </a:r>
          </a:p>
        </p:txBody>
      </p:sp>
      <p:sp>
        <p:nvSpPr>
          <p:cNvPr id="4" name="Объект 2">
            <a:extLst>
              <a:ext uri="{FF2B5EF4-FFF2-40B4-BE49-F238E27FC236}">
                <a16:creationId xmlns:a16="http://schemas.microsoft.com/office/drawing/2014/main" id="{D3A72EAB-AC9B-4564-B5A2-6523586243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4024" y="1908423"/>
            <a:ext cx="9824904" cy="4608512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Я, Никешина Дарья Ивановна, проходила учебную практику на базе предприятия Университет Синергия</a:t>
            </a:r>
          </a:p>
          <a:p>
            <a:pPr marL="0" indent="0"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 выполнении индивидуального задания по практике в соответствии с выбранной предметной областью решала задачу по проектированию и разработке информационной системы для предметной области прокат оборудования: оборудование, клиенты, договоры, возвраты, штрафы. 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Перед началом практики: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Приняла участие в организационном собрании по практике.</a:t>
            </a: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Ознакомилась с комплектом шаблонов отчетной документации по практике.</a:t>
            </a:r>
          </a:p>
          <a:p>
            <a:pPr algn="just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Courier New" panose="02070309020205020404" pitchFamily="49" charset="0"/>
              <a:buChar char="o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Уточнила контакты руководителя практики от Образовательной организации, а также правила в отношении субординации, внешнего вида, графика работы, техники безопасности: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Требования к внешнему виду: официально-деловой стиль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Круг обязанностей: практикант</a:t>
            </a:r>
          </a:p>
          <a:p>
            <a:pPr marL="885066" lvl="1" indent="-363538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Доступ к данным: ограниченный</a:t>
            </a:r>
          </a:p>
        </p:txBody>
      </p:sp>
      <p:sp>
        <p:nvSpPr>
          <p:cNvPr id="5" name="Текст 3">
            <a:extLst>
              <a:ext uri="{FF2B5EF4-FFF2-40B4-BE49-F238E27FC236}">
                <a16:creationId xmlns:a16="http://schemas.microsoft.com/office/drawing/2014/main" id="{A9319FAD-9C52-40D6-8EEA-0A80857906F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86313" y="779740"/>
            <a:ext cx="9824904" cy="709522"/>
          </a:xfrm>
        </p:spPr>
        <p:txBody>
          <a:bodyPr>
            <a:normAutofit lnSpcReduction="10000"/>
          </a:bodyPr>
          <a:lstStyle/>
          <a:p>
            <a:r>
              <a:rPr lang="ru-RU" b="0" dirty="0">
                <a:solidFill>
                  <a:srgbClr val="E60000"/>
                </a:solidFill>
              </a:rPr>
              <a:t>Правила внутреннего распорядка, правила и нормы охраны труда, </a:t>
            </a:r>
          </a:p>
          <a:p>
            <a:r>
              <a:rPr lang="ru-RU" b="0" dirty="0">
                <a:solidFill>
                  <a:srgbClr val="E60000"/>
                </a:solidFill>
              </a:rPr>
              <a:t>техники безопасности при работе с вычислительной техникой</a:t>
            </a:r>
          </a:p>
        </p:txBody>
      </p:sp>
      <p:sp>
        <p:nvSpPr>
          <p:cNvPr id="6" name="Прямоугольник 5">
            <a:extLst>
              <a:ext uri="{FF2B5EF4-FFF2-40B4-BE49-F238E27FC236}">
                <a16:creationId xmlns:a16="http://schemas.microsoft.com/office/drawing/2014/main" id="{8A034032-AD13-4B77-ADEA-7AE7FB3D968F}"/>
              </a:ext>
            </a:extLst>
          </p:cNvPr>
          <p:cNvSpPr/>
          <p:nvPr/>
        </p:nvSpPr>
        <p:spPr>
          <a:xfrm>
            <a:off x="7434932" y="210982"/>
            <a:ext cx="3153698" cy="47705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ru-RU" sz="25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Пример заполнения</a:t>
            </a:r>
            <a:endParaRPr lang="ru-RU" sz="2500" b="0" cap="none" spc="0" dirty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16863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Прототип главного окна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553CCFBD-145A-00B2-E1E3-130D5060AA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356" y="2340471"/>
            <a:ext cx="5749424" cy="3406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b="0" dirty="0">
                <a:solidFill>
                  <a:srgbClr val="E60000"/>
                </a:solidFill>
              </a:rPr>
              <a:t>ER-</a:t>
            </a:r>
            <a:r>
              <a:rPr lang="ru-RU" sz="1700" b="0" dirty="0">
                <a:solidFill>
                  <a:srgbClr val="E60000"/>
                </a:solidFill>
              </a:rPr>
              <a:t>диаграмма базы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C8285B1-CD28-F0CE-D36B-58A4F5B4A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31" y="1980431"/>
            <a:ext cx="2902676" cy="4892894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5B54EDC2-1E5D-DC75-D390-BFAFFA7376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1773" y="2700511"/>
            <a:ext cx="3085909" cy="3279586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F2F8F505-1A7B-4754-A30E-226F839C56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39939" y="2783804"/>
            <a:ext cx="3380165" cy="3286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Форма регистрации пользователя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46B6FA33-2A00-A471-9C8B-E3788D86AB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276" y="1980431"/>
            <a:ext cx="2788820" cy="3168352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77937E3-019A-4507-4CAA-AE6DEA3D2F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2644" y="2628503"/>
            <a:ext cx="3168352" cy="3078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Форма входа в систему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32BC8C46-CA00-7361-5F46-2CDAB5EE9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4332" y="1989613"/>
            <a:ext cx="3135630" cy="358203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963902BF-ED33-128E-C320-5240B5D14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8708" y="2772519"/>
            <a:ext cx="3004185" cy="3481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385144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US" sz="1700" b="0" dirty="0">
                <a:solidFill>
                  <a:srgbClr val="E60000"/>
                </a:solidFill>
              </a:rPr>
              <a:t>CAPTCHA </a:t>
            </a:r>
            <a:r>
              <a:rPr lang="ru-RU" sz="1700" b="0" dirty="0">
                <a:solidFill>
                  <a:srgbClr val="E60000"/>
                </a:solidFill>
              </a:rPr>
              <a:t>на форме входа, сообщение о блокировке после неудачных попыток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1CC8B965-0525-C824-8665-F1CAB1B955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244" y="1836415"/>
            <a:ext cx="3216910" cy="3686810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7068A3A0-DFEE-A1E5-07B8-6D1C034E08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0636" y="2908693"/>
            <a:ext cx="4997008" cy="32991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306140" y="1137495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Главное окно приложения до авторизации и после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ADB94AC2-FFD9-2947-5213-777AB58F46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845" y="2052925"/>
            <a:ext cx="3619315" cy="2154733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77D7698E-6EA9-4790-FA1F-4C385D1E89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845" y="4436134"/>
            <a:ext cx="3758118" cy="2219154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4E62791-0EBB-98D3-5433-32DEB5460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7276" y="2052439"/>
            <a:ext cx="3615349" cy="215473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F602D23-0564-7015-615B-8D3952F4002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7257" y="4498344"/>
            <a:ext cx="3615349" cy="2156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Заголовок 1">
            <a:extLst>
              <a:ext uri="{FF2B5EF4-FFF2-40B4-BE49-F238E27FC236}">
                <a16:creationId xmlns:a16="http://schemas.microsoft.com/office/drawing/2014/main" id="{0719AA99-22D7-45B3-8069-6E1FEDD93C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1879" y="100718"/>
            <a:ext cx="9687193" cy="997196"/>
          </a:xfrm>
        </p:spPr>
        <p:txBody>
          <a:bodyPr/>
          <a:lstStyle/>
          <a:p>
            <a:r>
              <a:rPr lang="ru-RU" sz="3600" dirty="0"/>
              <a:t>Экспериментально-практическая работа</a:t>
            </a:r>
          </a:p>
        </p:txBody>
      </p:sp>
      <p:sp>
        <p:nvSpPr>
          <p:cNvPr id="8" name="Текст 3">
            <a:extLst>
              <a:ext uri="{FF2B5EF4-FFF2-40B4-BE49-F238E27FC236}">
                <a16:creationId xmlns:a16="http://schemas.microsoft.com/office/drawing/2014/main" id="{BAEFEFB4-3051-4D7E-8463-CA0C39CDE64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234132" y="1407719"/>
            <a:ext cx="7128792" cy="334915"/>
          </a:xfrm>
        </p:spPr>
        <p:txBody>
          <a:bodyPr>
            <a:noAutofit/>
          </a:bodyPr>
          <a:lstStyle/>
          <a:p>
            <a:pPr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ru-RU" sz="1700" b="0" dirty="0">
                <a:solidFill>
                  <a:srgbClr val="E60000"/>
                </a:solidFill>
              </a:rPr>
              <a:t>Форма списка основной сущности, Форма добавления, редактирования и удаления записи</a:t>
            </a:r>
          </a:p>
        </p:txBody>
      </p:sp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B8D19344-DC92-5EA9-C319-3768418C99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065" y="2052439"/>
            <a:ext cx="3850816" cy="2376264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BA8BF0D-7DF5-CBF1-BB38-67008CAD222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4902" y="4500711"/>
            <a:ext cx="3470573" cy="2101338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943148C-32E8-CF19-6231-2ED051AF8E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5327" y="2110718"/>
            <a:ext cx="3600400" cy="2165679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A0E5CE7A-A8F6-43C0-50B0-7FC4E5A8BBC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38788" y="4434885"/>
            <a:ext cx="3600400" cy="2159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29238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2673" y="595916"/>
            <a:ext cx="9687193" cy="498598"/>
          </a:xfrm>
        </p:spPr>
        <p:txBody>
          <a:bodyPr/>
          <a:lstStyle/>
          <a:p>
            <a:r>
              <a:rPr lang="ru-RU" sz="3600" dirty="0"/>
              <a:t>Выводы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9015" y="1980431"/>
            <a:ext cx="9457277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534988" algn="just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результатов выполненных видов работ, мне удалось: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Выбрать предметную область и описать пользователей системы.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Сформировать требования к информационной системе.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Спроектировать ER-модель и структуру базы данных.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Создать настольное приложение на Windows </a:t>
            </a:r>
            <a:r>
              <a:rPr lang="ru-RU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Forms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или WPF.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регистрацию пользователей с проверкой вводимых данных.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авторизацию с хэшированием пароля.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Добавить CAPTCHA и ограничение количества неудачных попыток входа.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Реализовать не менее 3 CRUD-разделов выбранной предметной области.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тестовые данные, сценарии проверки и пользовательскую инструкцию.</a:t>
            </a:r>
          </a:p>
          <a:p>
            <a:pPr marL="342900" indent="-342900" algn="just">
              <a:buFont typeface="+mj-lt"/>
              <a:buAutoNum type="arabicPeriod"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Подготовить пояснение ключевых решений и инструкцию запуска.</a:t>
            </a:r>
          </a:p>
        </p:txBody>
      </p:sp>
    </p:spTree>
    <p:extLst>
      <p:ext uri="{BB962C8B-B14F-4D97-AF65-F5344CB8AC3E}">
        <p14:creationId xmlns:p14="http://schemas.microsoft.com/office/powerpoint/2010/main" val="2939517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6916" y="1908423"/>
            <a:ext cx="9667228" cy="475252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ru-RU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Перечислите источники используемой литературы:</a:t>
            </a:r>
          </a:p>
          <a:p>
            <a:pPr marL="0" lvl="0" indent="0" algn="just">
              <a:buNone/>
            </a:pPr>
            <a:r>
              <a:rPr sz="1600" dirty="0"/>
              <a:t>1. Долженко, А. И. Управление информационными системами : учебное пособие / А. И. Долженко. — 4-е изд. — Москва : Интернет-Университет Информационных Технологий (ИНТУИТ), Ай Пи Ар Медиа, 2025. — 180 c. — ISBN 978-5-4497-0911-0. — Текст : электронный // Цифровой образовательный ресурс IPR SMART : [сайт]. — URL: https://www.iprbookshop.ru/146409.html_x000B_2. Вьюгина, А. А. Прикладные информационные системы : учебное пособие / А. А. Вьюгина, С. В. Засорин. — Рязань : Рязанский государственный радиотехнический университет, 2023. — 79 c. — Текст : электронный // Цифровой образовательный ресурс IPR SMART : [сайт]. — URL: https://www.iprbookshop.ru/134871.html_x000B_3. Кулагина, И. И. Информационные системы управления проектами : практикум / И. И. Кулагина, О. А. Астафурова. — Волгоград : Волгоградский институт управления – филиал РАНХиГС, 2023. — 28 c. — ISBN 978-5-7786-0884-9. — Текст : электронный // Цифровой образовательный ресурс IPR SMART : [сайт]. — URL: https://www.iprbookshop.ru/157932.html_x000B_4. Молдованова, О. В. Информационные системы и базы данных : учебное пособие для СПО / О. В. Молдованова. — 2-е изд. — Саратов : Профобразование, 2024. — 177 c. — ISBN 978-5-4488-1177-7. — Текст : электронный // Цифровой образовательный ресурс IPR SMART : [сайт]. — URL: https://www.iprbookshop.ru/139095.html</a:t>
            </a:r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Список используемой литературы</a:t>
            </a:r>
          </a:p>
        </p:txBody>
      </p:sp>
    </p:spTree>
    <p:extLst>
      <p:ext uri="{BB962C8B-B14F-4D97-AF65-F5344CB8AC3E}">
        <p14:creationId xmlns:p14="http://schemas.microsoft.com/office/powerpoint/2010/main" val="17240627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8AD8984-A38D-4E8D-95B8-FFA4856CB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856" y="612279"/>
            <a:ext cx="9687193" cy="498598"/>
          </a:xfrm>
        </p:spPr>
        <p:txBody>
          <a:bodyPr/>
          <a:lstStyle/>
          <a:p>
            <a:r>
              <a:rPr lang="ru-RU" sz="3600" dirty="0"/>
              <a:t>Приложения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008A2AF-8712-4604-BBB2-1571404025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764407"/>
            <a:ext cx="9667228" cy="4752528"/>
          </a:xfrm>
        </p:spPr>
        <p:txBody>
          <a:bodyPr>
            <a:noAutofit/>
          </a:bodyPr>
          <a:lstStyle/>
          <a:p>
            <a:pPr marL="0" indent="534988" algn="just">
              <a:lnSpc>
                <a:spcPct val="100000"/>
              </a:lnSpc>
              <a:buNone/>
            </a:pP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качестве подтверждения выполнения задания прикладываю к комплекту файл отчетный документ:</a:t>
            </a:r>
          </a:p>
          <a:p>
            <a:pPr marL="534988" indent="0">
              <a:lnSpc>
                <a:spcPct val="100000"/>
              </a:lnSpc>
              <a:buNone/>
              <a:tabLst>
                <a:tab pos="534988" algn="l"/>
                <a:tab pos="715963" algn="l"/>
              </a:tabLst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Отчет о выполнении.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docx</a:t>
            </a:r>
          </a:p>
        </p:txBody>
      </p:sp>
    </p:spTree>
    <p:extLst>
      <p:ext uri="{BB962C8B-B14F-4D97-AF65-F5344CB8AC3E}">
        <p14:creationId xmlns:p14="http://schemas.microsoft.com/office/powerpoint/2010/main" val="24798366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презентация_шаблончик A4 (1)" id="{CECEB147-F7F0-4995-89D0-2FD57D90FCEB}" vid="{306AE4ED-CFFA-434E-A652-8353525159A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презентация_шаблончик A4 (1)</Template>
  <TotalTime>5868</TotalTime>
  <Words>780</Words>
  <Application>Microsoft Office PowerPoint</Application>
  <PresentationFormat>Произвольный</PresentationFormat>
  <Paragraphs>62</Paragraphs>
  <Slides>13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20" baseType="lpstr">
      <vt:lpstr>Arial</vt:lpstr>
      <vt:lpstr>Arial Black</vt:lpstr>
      <vt:lpstr>Calibri</vt:lpstr>
      <vt:lpstr>Calibri Light</vt:lpstr>
      <vt:lpstr>Courier New</vt:lpstr>
      <vt:lpstr>Times New Roman</vt:lpstr>
      <vt:lpstr>Тема Office</vt:lpstr>
      <vt:lpstr>ОТЧЕТ  о прохождении учебной практики  по профессиональному модулю ПМ.05 Проектирование и разработка информационных систем  в период с «18» мая 2026 г. по «31» мая 2026 г.   Специальность 09.02.07 Информационные системы и программирование         </vt:lpstr>
      <vt:lpstr>Содержание</vt:lpstr>
      <vt:lpstr>Организационный этап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Экспериментально-практическая работа</vt:lpstr>
      <vt:lpstr>Выводы</vt:lpstr>
      <vt:lpstr>Список используемой литературы</vt:lpstr>
      <vt:lpstr>Приложения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Катя</dc:creator>
  <cp:lastModifiedBy>Asuna</cp:lastModifiedBy>
  <cp:revision>336</cp:revision>
  <cp:lastPrinted>2019-08-06T13:15:09Z</cp:lastPrinted>
  <dcterms:created xsi:type="dcterms:W3CDTF">2020-03-27T22:15:06Z</dcterms:created>
  <dcterms:modified xsi:type="dcterms:W3CDTF">2026-05-29T17:13:36Z</dcterms:modified>
</cp:coreProperties>
</file>